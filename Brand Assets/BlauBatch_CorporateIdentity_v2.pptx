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1.jpg"/><Relationship Id="rId3" Type="http://schemas.openxmlformats.org/officeDocument/2006/relationships/image" Target="../media/image-7-1.jpg"/><Relationship Id="rId4" Type="http://schemas.openxmlformats.org/officeDocument/2006/relationships/image" Target="../media/image-7-1.jpg"/><Relationship Id="rId5" Type="http://schemas.openxmlformats.org/officeDocument/2006/relationships/image" Target="../media/image-7-1.jpg"/><Relationship Id="rId6" Type="http://schemas.openxmlformats.org/officeDocument/2006/relationships/image" Target="../media/image-7-1.jpg"/><Relationship Id="rId7" Type="http://schemas.openxmlformats.org/officeDocument/2006/relationships/image" Target="../media/image-7-1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1.jpg"/><Relationship Id="rId3" Type="http://schemas.openxmlformats.org/officeDocument/2006/relationships/image" Target="../media/image-8-1.jpg"/><Relationship Id="rId4" Type="http://schemas.openxmlformats.org/officeDocument/2006/relationships/image" Target="../media/image-8-1.jpg"/><Relationship Id="rId5" Type="http://schemas.openxmlformats.org/officeDocument/2006/relationships/image" Target="../media/image-8-1.jpg"/><Relationship Id="rId6" Type="http://schemas.openxmlformats.org/officeDocument/2006/relationships/image" Target="../media/image-8-1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1.jpg"/><Relationship Id="rId3" Type="http://schemas.openxmlformats.org/officeDocument/2006/relationships/image" Target="../media/image-14-1.jpg"/><Relationship Id="rId4" Type="http://schemas.openxmlformats.org/officeDocument/2006/relationships/image" Target="../media/image-14-1.jpg"/><Relationship Id="rId5" Type="http://schemas.openxmlformats.org/officeDocument/2006/relationships/image" Target="../media/image-14-1.jpg"/><Relationship Id="rId6" Type="http://schemas.openxmlformats.org/officeDocument/2006/relationships/image" Target="../media/image-14-1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50992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4480560"/>
            <a:ext cx="34747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828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100" kern="0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spc="100" kern="0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BATCH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100" kern="0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spc="100" kern="0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320040" y="367588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8D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Full-Spectrum Masterbatch Solutions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0040" y="4133088"/>
            <a:ext cx="1097280" cy="237744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1330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v2.0 |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"/>
            <a:ext cx="2423160" cy="242316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14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777240"/>
            <a:ext cx="1874520" cy="18745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3063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Unifying Our Vision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Mission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52160" y="37307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Manufacturer  ·  Distributor  ·  Partner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852160" y="45445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PRESENTED BY: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52160" y="47365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ADHAM ZAHRAN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412480" y="1645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114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320040" y="12618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CONTEN-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20040" y="2834640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20040" y="3749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4747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Introduction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7856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74520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Core &amp; Positioning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0965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Vision, Mission &amp; Values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40740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74520" y="4407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Evolution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7183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74520" y="4718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Usage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553712"/>
            <a:ext cx="457200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E1430"/>
          </a:solidFill>
          <a:ln w="12700">
            <a:solidFill>
              <a:srgbClr val="0E14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0"/>
            <a:ext cx="10973" cy="5143500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685800"/>
            <a:ext cx="3200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548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09728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1430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Guidelines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1490472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51790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156362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Color Palette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92040" y="1911096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93852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19842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Typography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2331720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35915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240487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Stationery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2752344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79776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28254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Identity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92040" y="3172968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200400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32461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Manufacturing Capabilities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732520" y="3264408"/>
            <a:ext cx="29260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326440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892040" y="3593592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621024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32120" y="3666744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 Network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732520" y="3685032"/>
            <a:ext cx="29260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368503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892040" y="4014216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41648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532120" y="408736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Portfolio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732520" y="4105656"/>
            <a:ext cx="29260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32520" y="41056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4892040" y="4434840"/>
            <a:ext cx="4023360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462272"/>
            <a:ext cx="594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532120" y="45079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 Voice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INTRO-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320040" y="7589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DUCTION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20040" y="1481328"/>
            <a:ext cx="502920" cy="64008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4480560" cy="10973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started as a filler masterbatch manufacturer and has evolved into a full masterbatch solutions supplier — combining in-house production with a comprehensive distributed portfolio across filler, additive, colour, and specialty grades.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establishing our manufacturing roots, we expanded into distribution as an authorised distributor to Coraplast, broadening our reach and product range across MENA and beyond.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 we are transitioning to a fully independent full-spectrum model — owning our manufacturing, our distribution, and our technical partnerships — to serve plastics producers with the complete range they need.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position ourselves as a technical partner — providing material solutions, expertise, and reliability that manufacturers need to scale and stay competitive.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B0B8C8"/>
          </a:solidFill>
          <a:ln w="12700">
            <a:solidFill>
              <a:srgbClr val="B0B8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840480"/>
            <a:ext cx="3474720" cy="130302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40690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Blau Batch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0" y="4645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Manufacturing &amp; Distribution Facility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50992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20040" y="822960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20040" y="1664208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a vertically integrated model, Blau Batch serves the full masterbatch supply chain — from production floor to delivered pallet.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2212848"/>
            <a:ext cx="73152" cy="566928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311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344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Filler Masterbatch: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High-output, cost-efficient CaCO₃ formulations for PE, PP, and multi-layer films. Improves stiffness, optimises processing, and reduces raw material cost.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852928"/>
            <a:ext cx="512064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889504"/>
            <a:ext cx="73152" cy="56692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077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Additive Masterbatch: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1638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Performance-enhancing additives: UV stabilisers, slip agents, antiblock, anti-static, and processing aids — engineered for smoother production.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529584"/>
            <a:ext cx="512064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566160"/>
            <a:ext cx="73152" cy="566928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844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Colour Masterbatch: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Vibrant, consistent colour concentrates for blown film, injection moulding, and pipe extrusion. Custom colour matching available.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206240"/>
            <a:ext cx="512064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4242816"/>
            <a:ext cx="73152" cy="56692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Custom-Engineered Solutions: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51713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Tailor-made formulations for specific production requirements — enabling consistent results and overcoming unique processing challenges.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760720" y="228600"/>
            <a:ext cx="1600200" cy="219456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931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60720" y="8869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12801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Own production with full process control and QC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98080" y="228600"/>
            <a:ext cx="1600200" cy="2194560"/>
          </a:xfrm>
          <a:prstGeom prst="rect">
            <a:avLst/>
          </a:prstGeom>
          <a:solidFill>
            <a:srgbClr val="23447A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9319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98080" y="8869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128016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Pan-regional logistics to MENA, Europe &amp; global markets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60720" y="2651760"/>
            <a:ext cx="1600200" cy="2194560"/>
          </a:xfrm>
          <a:prstGeom prst="rect">
            <a:avLst/>
          </a:prstGeom>
          <a:solidFill>
            <a:srgbClr val="D4840A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760720" y="33101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support and custom formulation development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651760"/>
            <a:ext cx="1600200" cy="2194560"/>
          </a:xfrm>
          <a:prstGeom prst="rect">
            <a:avLst/>
          </a:prstGeom>
          <a:solidFill>
            <a:srgbClr val="23447A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81635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498080" y="331012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370332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R&amp;D and material science investment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IDENTITY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17830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Aligning our mission, vision, values, and brand messaging for success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23774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our mission and vision clearly for team unity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Establish core values that guide our everyday operations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cohesive visual and verbal identity that resonates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Reflect our dual role as manufacturer and distributor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544568"/>
            <a:ext cx="4114800" cy="10973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6085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VALUES  </a:t>
            </a:r>
            <a:pPr indent="0" marL="0">
              <a:buNone/>
            </a:pPr>
            <a:r>
              <a:rPr lang="en-US" sz="800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Quality · Efficiency · Reliability · Innovation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0" y="0"/>
            <a:ext cx="10973" cy="51435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2551176"/>
            <a:ext cx="5029200" cy="10973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560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97680" y="713232"/>
            <a:ext cx="45720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become a global benchmark in full-spectrum masterbatch solutions — uniting manufacturing excellence and distribution reach to enable a more efficient, sustainable, and technologically advanced future for plastics production across MENA, Europe, and international markets.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MISSION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97680" y="3127248"/>
            <a:ext cx="4572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engineer and deliver reliable, high-quality masterbatch that enhances performance, reduces production cost, and delivers consistent technical value to manufacturers worldwide. Our mission is to combine material science, process discipline, and customer-focused innovation — supporting scalable, efficient, and competitive plastic production as both a manufacturer and a trusted distribution partner.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EVOLUTION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8DD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Filler Masterbatch Manufacturer to Full-Spectrum Solutions Supplier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8229600" cy="54864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764792"/>
            <a:ext cx="365760" cy="365760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76272"/>
            <a:ext cx="1920240" cy="260604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76272"/>
            <a:ext cx="1920240" cy="6400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04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founded as a filler masterbatch manufacturer, producing high-quality CaCO₃-based compounds for MENA plastics producers.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764792"/>
            <a:ext cx="365760" cy="365760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2176272"/>
            <a:ext cx="1920240" cy="260604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176272"/>
            <a:ext cx="1920240" cy="6400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2304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Coraplast Distribution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274320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becomes an authorised distributor to Coraplast, expanding its portfolio to include additive, colour, and specialty masterbatch.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1764792"/>
            <a:ext cx="365760" cy="365760"/>
          </a:xfrm>
          <a:prstGeom prst="ellipse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PIVOT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176272"/>
            <a:ext cx="1920240" cy="260604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176272"/>
            <a:ext cx="1920240" cy="64008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04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Expansion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74320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Range and market reach expanded — serving a growing base of manufacturers across MENA and Europe with both own-manufactured and distributed grades.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60920" y="1764792"/>
            <a:ext cx="365760" cy="365760"/>
          </a:xfrm>
          <a:prstGeom prst="ellipse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9400" y="2176272"/>
            <a:ext cx="1920240" cy="260604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0" y="2176272"/>
            <a:ext cx="1920240" cy="64008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23042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Full-Spectrum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2743200"/>
            <a:ext cx="1737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evolves into a fully independent masterbatch solutions supplier — manufacturing, distributing, and partnering across the full product spectrum.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10973" cy="51435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1115568"/>
            <a:ext cx="2926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proper use of the logo by following guidelines on colour accuracy, scale, and white space.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03320" y="228600"/>
            <a:ext cx="2468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7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60520" y="365760"/>
            <a:ext cx="1554480" cy="1143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228600"/>
            <a:ext cx="2468880" cy="141732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9" name="Image 1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365760"/>
            <a:ext cx="1554480" cy="1143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703320" y="1874520"/>
            <a:ext cx="1097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2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1920" y="2011680"/>
            <a:ext cx="640080" cy="11430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983480" y="1874520"/>
            <a:ext cx="1097280" cy="141732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13" name="Image 3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12080" y="2011680"/>
            <a:ext cx="640080" cy="11430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1874520"/>
            <a:ext cx="2651760" cy="1417320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5" name="Image 4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75120" y="2011680"/>
            <a:ext cx="1737360" cy="11430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03320" y="33649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Light Background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6400800" y="33649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Dark Background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3703320" y="3749040"/>
            <a:ext cx="2468880" cy="1143000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9" name="Image 5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023360" y="3840480"/>
            <a:ext cx="1828800" cy="9601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703320" y="4754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Horizontal Logo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6400800" y="3749040"/>
            <a:ext cx="24688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22" name="Image 6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949440" y="3886200"/>
            <a:ext cx="1371600" cy="8686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400800" y="47548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Logomark Only</a:t>
            </a:r>
            <a:endParaRPr lang="en-US" sz="900" dirty="0"/>
          </a:p>
        </p:txBody>
      </p:sp>
      <p:sp>
        <p:nvSpPr>
          <p:cNvPr id="24" name="Text 15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4389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 USAGE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PLACEMENT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20040" y="1993392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Spacing rule: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463040" y="1993392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clear space equal to the height of "B" in logo on all sides.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size: 25 mm width (print) / 120 px (digital).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Incorrect usage examples: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944368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 Don't stretch or rotate.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 Don't use drop shadows.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 Don't place on complex photos.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 Don't use unapproved colour variants.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4023360"/>
            <a:ext cx="2194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9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096512"/>
            <a:ext cx="1920240" cy="7680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49560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Horizontal Logo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0" y="4023360"/>
            <a:ext cx="914400" cy="91440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12" name="Image 1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4096512"/>
            <a:ext cx="731520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495604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Logomark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709160" y="0"/>
            <a:ext cx="10973" cy="514350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201168"/>
            <a:ext cx="1828800" cy="123444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16" name="Image 2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20640" y="347472"/>
            <a:ext cx="868680" cy="868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949440" y="201168"/>
            <a:ext cx="1920240" cy="123444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18" name="Image 3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86600" y="438912"/>
            <a:ext cx="1645920" cy="7498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892040" y="1572768"/>
            <a:ext cx="1828800" cy="2011680"/>
          </a:xfrm>
          <a:prstGeom prst="rect">
            <a:avLst/>
          </a:prstGeom>
          <a:solidFill>
            <a:srgbClr val="1A2140"/>
          </a:solidFill>
          <a:ln w="12700">
            <a:solidFill>
              <a:srgbClr val="1A214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956048" y="2999232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PLACEMENT</a:t>
            </a:r>
            <a:endParaRPr lang="en-US" sz="1300" dirty="0"/>
          </a:p>
        </p:txBody>
      </p:sp>
      <p:pic>
        <p:nvPicPr>
          <p:cNvPr id="21" name="Image 4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074920" y="1691640"/>
            <a:ext cx="640080" cy="566928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892040" y="3749040"/>
            <a:ext cx="3977640" cy="118872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23" name="Image 5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029200" y="3840480"/>
            <a:ext cx="1371600" cy="6583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406640" y="4041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www.blaubatch.com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949440" y="1572768"/>
            <a:ext cx="1920240" cy="2011680"/>
          </a:xfrm>
          <a:prstGeom prst="rect">
            <a:avLst/>
          </a:prstGeom>
          <a:solidFill>
            <a:srgbClr val="0E1430"/>
          </a:solidFill>
          <a:ln w="12700">
            <a:solidFill>
              <a:srgbClr val="0E143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7022592" y="1664208"/>
            <a:ext cx="118872" cy="118872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223760" y="163677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space around the logo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7022592" y="2020824"/>
            <a:ext cx="118872" cy="118872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223760" y="199339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Acceptable color variations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7022592" y="2377440"/>
            <a:ext cx="118872" cy="118872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223760" y="235000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 size for visibility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7022592" y="2734056"/>
            <a:ext cx="118872" cy="118872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7223760" y="27066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distortion or alterations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022592" y="3090672"/>
            <a:ext cx="118872" cy="118872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7223760" y="3063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Print and digital media usage</a:t>
            </a:r>
            <a:endParaRPr lang="en-US" sz="950" dirty="0"/>
          </a:p>
        </p:txBody>
      </p:sp>
      <p:sp>
        <p:nvSpPr>
          <p:cNvPr id="36" name="Text 28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PALETTE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943600" y="182880"/>
            <a:ext cx="29260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Primary colors: Navy Blue &amp; Steel Blue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Secondary colors: Grey &amp; White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Accent color: Manufacturing Amber (NEW)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10973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1188720"/>
            <a:ext cx="1828800" cy="374904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" y="153619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#141B3E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" y="197510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Navy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544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234086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(20, 27, 62)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544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26151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(68, 56, 0, 76)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1188720"/>
            <a:ext cx="1645920" cy="3749040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4248" y="153619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#23447A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84248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Steel Blue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8424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41448" y="2340864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(35, 68, 122)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8424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312" y="2615184"/>
            <a:ext cx="932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(71, 44, 0, 52)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20440" y="1188720"/>
            <a:ext cx="1371600" cy="374904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15361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#2B8DD0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30168" y="1975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Sky Blue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3016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87368" y="234086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(43, 141, 208)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3016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42232" y="261518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(79, 32, 0, 18)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1188720"/>
            <a:ext cx="1371600" cy="374904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1188720"/>
            <a:ext cx="1371600" cy="256032"/>
          </a:xfrm>
          <a:prstGeom prst="rect">
            <a:avLst/>
          </a:prstGeom>
          <a:solidFill>
            <a:srgbClr val="B06800"/>
          </a:solidFill>
          <a:ln w="12700">
            <a:solidFill>
              <a:srgbClr val="B06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188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01768" y="15361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#D4840A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01768" y="1975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Mfg Amber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0176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58968" y="234086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(212, 132, 10)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0176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13832" y="261518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(0, 38, 95, 17)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63640" y="1188720"/>
            <a:ext cx="1371600" cy="3749040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153619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#DCDCDC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73368" y="19751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 Grey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7336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30568" y="2340864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(220, 220, 220)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7336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85432" y="261518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(0, 0, 0, 14)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5240" y="1188720"/>
            <a:ext cx="1353312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44968" y="153619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#FFFFFF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744968" y="1975104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744968" y="234086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RGB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02168" y="2340864"/>
            <a:ext cx="6949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(255, 255, 255)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44968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CMYK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257032" y="261518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(0, 0, 0, 0)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TYPOGRA-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320040" y="7132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325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Readability, Brand Personality, and Professionalism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627632"/>
            <a:ext cx="10973" cy="351129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3063240"/>
            <a:ext cx="438912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PRIMARY (STYLE) TYPEFACE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9339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uses Montserrat as its primary typeface, chosen for its modern and clean aesthetics. Used for all titles, headings, section headers, and brand callouts.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182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PARAGRAPH (BODY) TYPEFACE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493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Sans is used for all body copy. Consistent font sizes and line spacing enhance readability across all media and platforms.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446227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Usage Rules: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54480" y="4462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usage is crucial; maintain minimalist approach across all platforms.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19472" y="1691640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/ TITLE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1883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BLACK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9472" y="213055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SUBTITLE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9472" y="23225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EXTRABOLD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256946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HEADING: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19472" y="27614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MONTSERRAT BOLD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090672"/>
            <a:ext cx="2880360" cy="184708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145536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BLAU BATCH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89320" y="352044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89320" y="3840480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8D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40873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Paragraph body text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431596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 Bb Cc Dd Ee Ff Gg Hh Ii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453542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DCD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0 1 2 3 4 5 6 7 8 9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8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CAPABILITIES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" y="1463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in-house production facility is purpose-built for high-volume, consistent masterbatch manufacturing.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93392"/>
            <a:ext cx="850392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2148840"/>
            <a:ext cx="2029968" cy="2697480"/>
          </a:xfrm>
          <a:prstGeom prst="rect">
            <a:avLst/>
          </a:prstGeom>
          <a:solidFill>
            <a:srgbClr val="1A2445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148840"/>
            <a:ext cx="2029968" cy="73152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860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Capacity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High-volume twin-screw extrusion lines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Continuous batch consistency monitoring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Scalable output to client volumes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43891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Automated dosing and compounding systems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32888" y="2148840"/>
            <a:ext cx="2029968" cy="2697480"/>
          </a:xfrm>
          <a:prstGeom prst="rect">
            <a:avLst/>
          </a:prstGeom>
          <a:solidFill>
            <a:srgbClr val="1A2445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2148840"/>
            <a:ext cx="2029968" cy="73152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22860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24328" y="28163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24328" y="3291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In-house laboratory with full testing suite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24328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MFI, ash content, dispersion &amp; colour testing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24328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ISO-aligned QC protocols per batch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43891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Technical certificates issued per shipment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45736" y="2148840"/>
            <a:ext cx="2029968" cy="2697480"/>
          </a:xfrm>
          <a:prstGeom prst="rect">
            <a:avLst/>
          </a:prstGeom>
          <a:solidFill>
            <a:srgbClr val="1A2445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5736" y="2148840"/>
            <a:ext cx="2029968" cy="73152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22860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37176" y="28163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R&amp;D &amp; Custom Engineering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37176" y="3291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Custom formulation development 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37176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Application-specific optimisation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37176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Pilot batch trials before full production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37176" y="43891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Collaborative development with client teams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58584" y="2148840"/>
            <a:ext cx="2029968" cy="2697480"/>
          </a:xfrm>
          <a:prstGeom prst="rect">
            <a:avLst/>
          </a:prstGeom>
          <a:solidFill>
            <a:srgbClr val="1A2445"/>
          </a:solidFill>
          <a:ln w="12700">
            <a:solidFill>
              <a:srgbClr val="2A34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58584" y="2148840"/>
            <a:ext cx="2029968" cy="73152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58584" y="2286000"/>
            <a:ext cx="20299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050024" y="281635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84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Packaging &amp; Traceability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50024" y="3291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25 kg bags, big bags, or bulk options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50024" y="3657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Full batch traceability and lot tracking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50024" y="40233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Branded and private-label packaging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50024" y="438912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Safety data sheets on every product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864608"/>
            <a:ext cx="850392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919472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Quality Assurance  ·  ISO-Aligned Processes  ·  Full Batch Traceability  ·  Technical Support Included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DISTRI-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20040" y="7772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" y="129844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20040" y="18288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pan-regional distribution model built on speed, reliability, and technical support.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0040" y="2212848"/>
            <a:ext cx="4389120" cy="77724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5856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8912" y="26883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Market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2276856"/>
            <a:ext cx="10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227685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Egypt, UAE, Saudi Arabia, Jordan, Libya, Morocco and beyond. Direct distribution with local technical support.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081528"/>
            <a:ext cx="4389120" cy="777240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312724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EUROPE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355701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Growth 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20240" y="3145536"/>
            <a:ext cx="10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314553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Turkey, Germany, Italy, Poland. Pan-European logistics partnerships for consistent supply.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50208"/>
            <a:ext cx="4389120" cy="77724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9959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38912" y="44256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C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Reach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920240" y="4014216"/>
            <a:ext cx="1097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84832" y="4014216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South &amp; Southeast Asia, Sub-Saharan Africa. Export documentation, freight coordination, and compliance support.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2926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DISTRIBUTION MODEL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166360" y="841248"/>
            <a:ext cx="502920" cy="50292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841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79008" y="85953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79008" y="111556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In-house production facility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166360" y="1499616"/>
            <a:ext cx="3639312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6360" y="1645920"/>
            <a:ext cx="502920" cy="50292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779008" y="166420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QC &amp; Certification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79008" y="192024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 testing &amp; technical certificates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66360" y="2304288"/>
            <a:ext cx="3639312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66360" y="2450592"/>
            <a:ext cx="502920" cy="50292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779008" y="2468880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Management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779008" y="272491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Dedicated sales &amp; support team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166360" y="3108960"/>
            <a:ext cx="3639312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66360" y="3255264"/>
            <a:ext cx="502920" cy="50292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🚢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779008" y="3273552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Freight &amp; Logistics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79008" y="352958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Sea, air, and road freight options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166360" y="3913632"/>
            <a:ext cx="3639312" cy="10973"/>
          </a:xfrm>
          <a:prstGeom prst="rect">
            <a:avLst/>
          </a:prstGeom>
          <a:solidFill>
            <a:srgbClr val="253060"/>
          </a:solidFill>
          <a:ln w="12700">
            <a:solidFill>
              <a:srgbClr val="253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66360" y="4059936"/>
            <a:ext cx="502920" cy="502920"/>
          </a:xfrm>
          <a:prstGeom prst="rect">
            <a:avLst/>
          </a:prstGeom>
          <a:solidFill>
            <a:srgbClr val="1A2445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66360" y="4059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779008" y="40782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Partner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779008" y="433425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On-site support &amp; formulation advice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PORTFOLIO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" y="932688"/>
            <a:ext cx="850392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3160" y="1124712"/>
            <a:ext cx="56692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23160" y="1124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Filler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PE Filler – 50–70% CaCO₃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PP Filler – Blown &amp; Cast Film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Stiffness &amp; Processing Aid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Cost Reduction Formulations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124712"/>
            <a:ext cx="56692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124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338328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Additive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6459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MANUFACTURED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0" y="18562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UV Stabilisers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83280" y="2103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Slip &amp; Antiblock Agents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23500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Anti-Static Concentrate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Processing Aids &amp; Modifiers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124712"/>
            <a:ext cx="566928" cy="18288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1124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</a:t>
            </a:r>
            <a:endParaRPr lang="en-US" sz="550" dirty="0"/>
          </a:p>
        </p:txBody>
      </p:sp>
      <p:sp>
        <p:nvSpPr>
          <p:cNvPr id="25" name="Text 23"/>
          <p:cNvSpPr/>
          <p:nvPr/>
        </p:nvSpPr>
        <p:spPr>
          <a:xfrm>
            <a:off x="6309360" y="1143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Colour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16459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309360" y="18562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Standard &amp; Custom Colours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309360" y="2103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Blown Film &amp; Injection Grade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309360" y="23500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Colour Matching Service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09360" y="259689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Food-Contact Grades Available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990088"/>
            <a:ext cx="2743200" cy="1828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23160" y="3063240"/>
            <a:ext cx="566928" cy="18288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0632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</a:t>
            </a:r>
            <a:endParaRPr lang="en-US" sz="550" dirty="0"/>
          </a:p>
        </p:txBody>
      </p:sp>
      <p:sp>
        <p:nvSpPr>
          <p:cNvPr id="34" name="Text 32"/>
          <p:cNvSpPr/>
          <p:nvPr/>
        </p:nvSpPr>
        <p:spPr>
          <a:xfrm>
            <a:off x="457200" y="30815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White / Black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35844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37947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High-Opacity White TiO₂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041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UV-Stable Black Carbon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42885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Packaging &amp; Pipe Grades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5354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Multiple Carrier Options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46120" y="2990088"/>
            <a:ext cx="2743200" cy="1828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49240" y="3063240"/>
            <a:ext cx="566928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9240" y="306324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MFG+DIST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3383280" y="30815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Specialty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Concentrates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383280" y="358444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C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MANUFACTURED &amp; DISTRIBUTED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383280" y="379476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Flame Retardant Grades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83280" y="404164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Anti-Microbial Masterbatch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83280" y="42885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Optical Brighteners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83280" y="453542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Degradable Additives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STATIONERY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20040" y="7132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2004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SHOWCASE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2004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LETTERHEAD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20574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Minimalist design — clean, professional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242316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423160"/>
            <a:ext cx="2011680" cy="29260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9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450592"/>
            <a:ext cx="640080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468880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www.blaubatch.com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502920" y="2880360"/>
            <a:ext cx="164592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" y="3063240"/>
            <a:ext cx="164592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3246120"/>
            <a:ext cx="164592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429000"/>
            <a:ext cx="164592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611880"/>
            <a:ext cx="164592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2920" y="3794760"/>
            <a:ext cx="91440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0690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Sincerely,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02920" y="42793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Adham Zahran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141B3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Marketing &amp; Operations Manager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20040" y="4773168"/>
            <a:ext cx="2011680" cy="164592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7731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www.blaubatch.com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2514600" y="242316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14600" y="2423160"/>
            <a:ext cx="2011680" cy="29260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23" name="Image 1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4680" y="2450592"/>
            <a:ext cx="640080" cy="237744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651760" y="2880360"/>
            <a:ext cx="17373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651760" y="3063240"/>
            <a:ext cx="17373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651760" y="3246120"/>
            <a:ext cx="17373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51760" y="3429000"/>
            <a:ext cx="17373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651760" y="3611880"/>
            <a:ext cx="17373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651760" y="3794760"/>
            <a:ext cx="12801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651760" y="3977640"/>
            <a:ext cx="12801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651760" y="4160520"/>
            <a:ext cx="1280160" cy="5486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754880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846320" y="164592"/>
            <a:ext cx="4005072" cy="2560320"/>
          </a:xfrm>
          <a:prstGeom prst="rect">
            <a:avLst/>
          </a:prstGeom>
          <a:solidFill>
            <a:srgbClr val="D0D5DD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846320" y="164592"/>
            <a:ext cx="40050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35" name="Image 2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29200" y="219456"/>
            <a:ext cx="914400" cy="256032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8229600" y="182880"/>
            <a:ext cx="566928" cy="347472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37" name="Image 3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75320" y="219456"/>
            <a:ext cx="475488" cy="27432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4846320" y="2852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 BUSINESS CARD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4846320" y="314553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Typography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846320" y="3429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41" name="Image 4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56048" y="3493008"/>
            <a:ext cx="777240" cy="3200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956048" y="3886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ADHAM ZAHRAN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956048" y="41330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B8D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Mktg &amp; Operations Manager</a:t>
            </a:r>
            <a:endParaRPr lang="en-US" sz="750" dirty="0"/>
          </a:p>
        </p:txBody>
      </p:sp>
      <p:sp>
        <p:nvSpPr>
          <p:cNvPr id="44" name="Text 37"/>
          <p:cNvSpPr/>
          <p:nvPr/>
        </p:nvSpPr>
        <p:spPr>
          <a:xfrm>
            <a:off x="4956048" y="434340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+20 (0)100 000 0000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adham.zahran@blaubatch.com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29, 6th Industrial Zone, Egypt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6995160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 BUSINESS CARD</a:t>
            </a:r>
            <a:endParaRPr lang="en-US" sz="1200" dirty="0"/>
          </a:p>
        </p:txBody>
      </p:sp>
      <p:sp>
        <p:nvSpPr>
          <p:cNvPr id="46" name="Text 39"/>
          <p:cNvSpPr/>
          <p:nvPr/>
        </p:nvSpPr>
        <p:spPr>
          <a:xfrm>
            <a:off x="6995160" y="31455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Logo Integration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6995160" y="3429000"/>
            <a:ext cx="1828800" cy="150876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pic>
        <p:nvPicPr>
          <p:cNvPr id="48" name="Image 5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6">
            <a:alphaModFix amt="85000"/>
          </a:blip>
          <a:srcRect l="0" r="0" t="0" b="0"/>
          <a:stretch/>
        </p:blipFill>
        <p:spPr>
          <a:xfrm>
            <a:off x="7178040" y="3611880"/>
            <a:ext cx="1463040" cy="91440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995160" y="47091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www.blaubatch.com</a:t>
            </a:r>
            <a:endParaRPr lang="en-US" sz="750" dirty="0"/>
          </a:p>
        </p:txBody>
      </p:sp>
      <p:sp>
        <p:nvSpPr>
          <p:cNvPr id="50" name="Text 42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51" name="Text 43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DIGITAL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20040" y="19659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Layouts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Text Blocks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Brand Imagery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Mobile-Responsive Design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3291840"/>
            <a:ext cx="658368" cy="658368"/>
          </a:xfrm>
          <a:prstGeom prst="ellipse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3986784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188720" y="3291840"/>
            <a:ext cx="658368" cy="658368"/>
          </a:xfrm>
          <a:prstGeom prst="ellipse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986784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LinkedIn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57400" y="3291840"/>
            <a:ext cx="658368" cy="658368"/>
          </a:xfrm>
          <a:prstGeom prst="ellipse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📸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3986784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Instagram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26080" y="3291840"/>
            <a:ext cx="658368" cy="658368"/>
          </a:xfrm>
          <a:prstGeom prst="ellipse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3291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3986784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Facebook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023360" y="0"/>
            <a:ext cx="10973" cy="514350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551176"/>
            <a:ext cx="512064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64592"/>
            <a:ext cx="46634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64592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pic>
        <p:nvPicPr>
          <p:cNvPr id="20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201168"/>
            <a:ext cx="77724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12080" y="237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870448" y="237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Colour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528816" y="237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Photo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187184" y="237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Categories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845552" y="23774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Brand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8458200" y="219456"/>
            <a:ext cx="292608" cy="20116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458200" y="2194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4160520" y="512064"/>
            <a:ext cx="2194560" cy="1920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343400" y="6400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Full-Spectrum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1B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343400" y="1828800"/>
            <a:ext cx="621792" cy="20116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343400" y="1828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510528" y="512064"/>
            <a:ext cx="2313432" cy="1920240"/>
          </a:xfrm>
          <a:prstGeom prst="rect">
            <a:avLst/>
          </a:prstGeom>
          <a:solidFill>
            <a:srgbClr val="E8E8E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65392" y="566928"/>
            <a:ext cx="1005840" cy="777240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80960" y="566928"/>
            <a:ext cx="1005840" cy="777240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65392" y="1463040"/>
            <a:ext cx="1005840" cy="77724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680960" y="1463040"/>
            <a:ext cx="1005840" cy="77724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60520" y="2697480"/>
            <a:ext cx="2286000" cy="2286000"/>
          </a:xfrm>
          <a:prstGeom prst="rect">
            <a:avLst/>
          </a:prstGeom>
          <a:solidFill>
            <a:srgbClr val="C8D0D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60520" y="4645152"/>
            <a:ext cx="2286000" cy="33832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60520" y="46451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BLAU BATCH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20040" y="8686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GUIDELINES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" y="1444752"/>
            <a:ext cx="850392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72768"/>
            <a:ext cx="202996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72768"/>
            <a:ext cx="2029968" cy="658368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LinkedIn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B2B Priority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1828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content, product launches, industry insights. Post 3–4x per week. Tone: professional, data-driven.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32888" y="1572768"/>
            <a:ext cx="202996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32888" y="1572768"/>
            <a:ext cx="2029968" cy="658368"/>
          </a:xfrm>
          <a:prstGeom prst="rect">
            <a:avLst/>
          </a:prstGeom>
          <a:solidFill>
            <a:srgbClr val="E1306C"/>
          </a:solidFill>
          <a:ln w="12700">
            <a:solidFill>
              <a:srgbClr val="E130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18688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18688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Awareness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42616" y="2304288"/>
            <a:ext cx="1828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product shots, factory behind-the-scenes, masterbatch colour displays. Post 2–3x per week.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45736" y="1572768"/>
            <a:ext cx="202996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45736" y="1572768"/>
            <a:ext cx="2029968" cy="658368"/>
          </a:xfrm>
          <a:prstGeom prst="rect">
            <a:avLst/>
          </a:prstGeom>
          <a:solidFill>
            <a:srgbClr val="1877F2"/>
          </a:solidFill>
          <a:ln w="12700">
            <a:solidFill>
              <a:srgbClr val="187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431536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31536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55464" y="2304288"/>
            <a:ext cx="1828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Company updates, market news, partner announcements. Post 2x per week. Engage comments promptly.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58584" y="1572768"/>
            <a:ext cx="202996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58584" y="1572768"/>
            <a:ext cx="2029968" cy="65836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8584" y="15727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644384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44384" y="19659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Lead Generation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68312" y="2304288"/>
            <a:ext cx="18288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 catalogue, technical data sheets, contact forms. SEO-optimised content updated monthly.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5029200"/>
            <a:ext cx="850392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074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44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Voice on Social: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148840" y="5074920"/>
            <a:ext cx="6675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 ·  Precise  ·  Trustworthy  ·  Solutions-Oriented  ·  Professional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2860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IMAGERY &amp;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32004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PHOTOGRAPHY STYLE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850392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673352"/>
            <a:ext cx="54864" cy="45720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002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&amp; Process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89280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Factory interiors, production lines, granule close-ups. Use cool blue/grey tones consistent with brand.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54864" cy="45720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4414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Photography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34056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studio shots: masterbatch pellets, powder formulations, and final packaged products on white or neutral backgrounds.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3355848"/>
            <a:ext cx="54864" cy="45720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2826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People &amp; Partnership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575304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teams, lab environments, client visits. Authentic, professional — no stock-photo feel.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197096"/>
            <a:ext cx="54864" cy="457200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412394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Macro &amp; Detail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441655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Close-up of pellets, material textures, colour swatches. High contrast, sharp focus, brand-consistent colour grading.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0"/>
            <a:ext cx="10973" cy="5143500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554480"/>
            <a:ext cx="1920240" cy="1664208"/>
          </a:xfrm>
          <a:prstGeom prst="rect">
            <a:avLst/>
          </a:prstGeom>
          <a:solidFill>
            <a:srgbClr val="2A3B6A"/>
          </a:solidFill>
          <a:ln w="12700">
            <a:solidFill>
              <a:srgbClr val="2A3B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Factory &amp; Process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040880" y="1554480"/>
            <a:ext cx="1920240" cy="1664208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944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Detail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83480" y="3383280"/>
            <a:ext cx="1920240" cy="1664208"/>
          </a:xfrm>
          <a:prstGeom prst="rect">
            <a:avLst/>
          </a:prstGeom>
          <a:solidFill>
            <a:srgbClr val="1A406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773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&amp; R&amp;D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40880" y="3383280"/>
            <a:ext cx="1920240" cy="166420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7731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 &amp; Partners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5603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344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 VOICE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Blau Batch communicates — across all channels, audiences, and touchpoints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8503920" cy="10973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572768"/>
            <a:ext cx="2029968" cy="3310128"/>
          </a:xfrm>
          <a:prstGeom prst="rect">
            <a:avLst/>
          </a:prstGeom>
          <a:solidFill>
            <a:srgbClr val="141B3E"/>
          </a:solidFill>
          <a:ln w="12700">
            <a:solidFill>
              <a:srgbClr val="14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91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2724912"/>
            <a:ext cx="181051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speak with engineering authority. We use accurate industry terminology, cite performance data, and avoid vague claims. Clients trust us because we understand their process.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32888" y="1572768"/>
            <a:ext cx="2029968" cy="3310128"/>
          </a:xfrm>
          <a:prstGeom prst="rect">
            <a:avLst/>
          </a:prstGeom>
          <a:solidFill>
            <a:srgbClr val="23447A"/>
          </a:solidFill>
          <a:ln w="12700">
            <a:solidFill>
              <a:srgbClr val="234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691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78608" y="224028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42616" y="2724912"/>
            <a:ext cx="181051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word earns its place. Specifications, formulations, delivery timelines — we communicate clearly and concisely. No filler content.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45736" y="1572768"/>
            <a:ext cx="2029968" cy="3310128"/>
          </a:xfrm>
          <a:prstGeom prst="rect">
            <a:avLst/>
          </a:prstGeom>
          <a:solidFill>
            <a:srgbClr val="2B8DD0"/>
          </a:solidFill>
          <a:ln w="12700">
            <a:solidFill>
              <a:srgbClr val="2B8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691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91456" y="224028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Trustworthy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55464" y="2724912"/>
            <a:ext cx="181051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say what we'll do and do what we say. Our voice is consistent, transparent, and dependable — reflecting our manufacturing and distribution reliability.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958584" y="1572768"/>
            <a:ext cx="2029968" cy="3310128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58584" y="16916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04304" y="2240280"/>
            <a:ext cx="1938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Ambitious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68312" y="2724912"/>
            <a:ext cx="1810512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a full-spectrum company, we speak with the confidence of a manufacturer and the reach of a distributor. We're building towards being the global standard.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Blau Batch – Corporate Identity Manual v2.0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1248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D4840A"/>
          </a:solidFill>
          <a:ln w="12700">
            <a:solidFill>
              <a:srgbClr val="D484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502920"/>
            <a:ext cx="8503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FULL-SPECTRUM</a:t>
            </a:r>
            <a:endParaRPr lang="en-US" sz="6800" dirty="0"/>
          </a:p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MASTERBATCH</a:t>
            </a:r>
            <a:endParaRPr lang="en-US" sz="6800" dirty="0"/>
          </a:p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SOLUTIONS.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320040" y="3639312"/>
            <a:ext cx="850392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767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4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169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In-house production with full QC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3767328"/>
            <a:ext cx="10973" cy="749808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3767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8D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DISTRIBUTE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4169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Pan-regional reach across MENA &amp; Europe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3767328"/>
            <a:ext cx="10973" cy="749808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767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PARTNER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416966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support &amp; custom solutions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4681728"/>
            <a:ext cx="8503920" cy="10973"/>
          </a:xfrm>
          <a:prstGeom prst="rect">
            <a:avLst/>
          </a:prstGeom>
          <a:solidFill>
            <a:srgbClr val="334488"/>
          </a:solidFill>
          <a:ln w="12700">
            <a:solidFill>
              <a:srgbClr val="334488"/>
            </a:solidFill>
            <a:prstDash val="solid"/>
          </a:ln>
        </p:spPr>
      </p:sp>
      <p:pic>
        <p:nvPicPr>
          <p:cNvPr id="14" name="Image 0" descr="/sessions/beautiful-magical-cori/mnt/Brand Assets/Logos/BlauBatch_Logo_Primar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4736592"/>
            <a:ext cx="1097280" cy="3200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0" y="47731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DCD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www.blaubatch.com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47731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Identity Manual v2.0  |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Blau Batch – Corporate Identity Manual v2.0</dc:title>
  <dc:subject>PptxGenJS Presentation</dc:subject>
  <dc:creator>Adham Zahran</dc:creator>
  <cp:lastModifiedBy>Adham Zahran</cp:lastModifiedBy>
  <cp:revision>1</cp:revision>
  <dcterms:created xsi:type="dcterms:W3CDTF">2026-03-17T02:53:15Z</dcterms:created>
  <dcterms:modified xsi:type="dcterms:W3CDTF">2026-03-17T02:53:15Z</dcterms:modified>
</cp:coreProperties>
</file>